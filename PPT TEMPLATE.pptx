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Helvetica Neue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wyimCCOGcBeBeD5R3Z8WR9YlW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Play-regular.fntdata"/><Relationship Id="rId13" Type="http://schemas.openxmlformats.org/officeDocument/2006/relationships/font" Target="fonts/Play-bold.fntdata"/><Relationship Id="rId14" Type="http://schemas.openxmlformats.org/officeDocument/2006/relationships/font" Target="fonts/HelveticaNeue-bold.fntdata"/><Relationship Id="rId15" Type="http://schemas.openxmlformats.org/officeDocument/2006/relationships/font" Target="fonts/HelveticaNeue-boldItalic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descr="Abstract background of node and mesh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3401" y="581422"/>
            <a:ext cx="8084868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D2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HACKATHON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196" y="432057"/>
            <a:ext cx="4263272" cy="2319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9424645" y="160684"/>
            <a:ext cx="1153082" cy="1110354"/>
            <a:chOff x="0" y="0"/>
            <a:chExt cx="2660334" cy="2660334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0"/>
              <a:ext cx="2660334" cy="2660334"/>
              <a:chOff x="0" y="0"/>
              <a:chExt cx="812800" cy="812800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175" lIns="37175" spcFirstLastPara="1" rIns="37175" wrap="square" tIns="37175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1"/>
            <p:cNvSpPr/>
            <p:nvPr/>
          </p:nvSpPr>
          <p:spPr>
            <a:xfrm>
              <a:off x="88409" y="88409"/>
              <a:ext cx="2483516" cy="2483516"/>
            </a:xfrm>
            <a:custGeom>
              <a:rect b="b" l="l" r="r" t="t"/>
              <a:pathLst>
                <a:path extrusionOk="0" h="2483516" w="2483516">
                  <a:moveTo>
                    <a:pt x="0" y="0"/>
                  </a:moveTo>
                  <a:lnTo>
                    <a:pt x="2483516" y="0"/>
                  </a:lnTo>
                  <a:lnTo>
                    <a:pt x="2483516" y="2483516"/>
                  </a:lnTo>
                  <a:lnTo>
                    <a:pt x="0" y="24835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10737781" y="160684"/>
            <a:ext cx="1114763" cy="1110479"/>
          </a:xfrm>
          <a:custGeom>
            <a:rect b="b" l="l" r="r" t="t"/>
            <a:pathLst>
              <a:path extrusionOk="0" h="812800" w="785701">
                <a:moveTo>
                  <a:pt x="392850" y="0"/>
                </a:moveTo>
                <a:cubicBezTo>
                  <a:pt x="175885" y="0"/>
                  <a:pt x="0" y="181951"/>
                  <a:pt x="0" y="406400"/>
                </a:cubicBezTo>
                <a:cubicBezTo>
                  <a:pt x="0" y="630849"/>
                  <a:pt x="175885" y="812800"/>
                  <a:pt x="392850" y="812800"/>
                </a:cubicBezTo>
                <a:cubicBezTo>
                  <a:pt x="609816" y="812800"/>
                  <a:pt x="785701" y="630849"/>
                  <a:pt x="785701" y="406400"/>
                </a:cubicBezTo>
                <a:cubicBezTo>
                  <a:pt x="785701" y="181951"/>
                  <a:pt x="609816" y="0"/>
                  <a:pt x="39285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212" r="-121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111509" y="141166"/>
            <a:ext cx="1153082" cy="111035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2060" l="-14077" r="-10401" t="-124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50310" y="2609417"/>
            <a:ext cx="11132468" cy="3667162"/>
          </a:xfrm>
          <a:prstGeom prst="roundRect">
            <a:avLst>
              <a:gd fmla="val 16667" name="adj"/>
            </a:avLst>
          </a:prstGeom>
          <a:solidFill>
            <a:srgbClr val="06111C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12900" y="2940411"/>
            <a:ext cx="7801363" cy="2932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NAME: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LEADER NAME: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INSTITUTION :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of node and mesh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863427" y="6509659"/>
            <a:ext cx="32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Chandigarh Police Hackathon 2026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255814" y="299357"/>
            <a:ext cx="11680371" cy="621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 rot="10800000">
            <a:off x="4065812" y="30503"/>
            <a:ext cx="4060374" cy="999785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4158338" y="272354"/>
            <a:ext cx="40603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594360" y="1234440"/>
            <a:ext cx="5120640" cy="2331720"/>
          </a:xfrm>
          <a:prstGeom prst="roundRect">
            <a:avLst/>
          </a:prstGeom>
          <a:solidFill>
            <a:srgbClr val="0B2035"/>
          </a:solidFill>
          <a:ln w="2286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200"/>
              </a:spcAft>
              <a:defRPr sz="1400" b="1">
                <a:solidFill>
                  <a:srgbClr val="FF5252"/>
                </a:solidFill>
                <a:latin typeface="Helvetica Neue"/>
              </a:defRPr>
            </a:pPr>
            <a:r>
              <a:t>🚨 THE CRIME CRISIS</a:t>
            </a:r>
          </a:p>
          <a:p>
            <a:pPr>
              <a:defRPr sz="2400" b="1">
                <a:solidFill>
                  <a:srgbClr val="FFD21F"/>
                </a:solidFill>
                <a:latin typeface="Helvetica Neue"/>
              </a:defRPr>
            </a:pPr>
            <a:r>
              <a:t>₹2,500+ Cr  </a:t>
            </a:r>
          </a:p>
          <a:p>
            <a:pPr>
              <a:spcAft>
                <a:spcPts val="600"/>
              </a:spcAft>
              <a:defRPr sz="1150" b="1">
                <a:solidFill>
                  <a:srgbClr val="FFFFFF"/>
                </a:solidFill>
                <a:latin typeface="Helvetica Neue"/>
              </a:defRPr>
            </a:pPr>
            <a:r>
              <a:t>Lost to Crypto Frauds in India (2024)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Helvetica Neue"/>
              </a:defRPr>
            </a:pPr>
            <a:r>
              <a:t>• 300%+ surge in cybercrime FIRs involving crypto since 2021.</a:t>
            </a:r>
          </a:p>
          <a:p>
            <a:pPr>
              <a:defRPr sz="1150">
                <a:solidFill>
                  <a:srgbClr val="CBD5E1"/>
                </a:solidFill>
                <a:latin typeface="Helvetica Neue"/>
              </a:defRPr>
            </a:pPr>
            <a:r>
              <a:t>• Illicit funds vanish through mixers &amp; cross-chain bridges in &lt;10 mins.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4360" y="3703320"/>
            <a:ext cx="5120640" cy="2423160"/>
          </a:xfrm>
          <a:prstGeom prst="roundRect">
            <a:avLst/>
          </a:prstGeom>
          <a:solidFill>
            <a:srgbClr val="0B2035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600"/>
              </a:spcAft>
              <a:defRPr sz="1400" b="1">
                <a:solidFill>
                  <a:srgbClr val="00E5FF"/>
                </a:solidFill>
                <a:latin typeface="Helvetica Neue"/>
              </a:defRPr>
            </a:pPr>
            <a:r>
              <a:t>🎯 CURRENT &amp; UPCOMING MARKET ROLE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Helvetica Neue"/>
              </a:defRPr>
            </a:pPr>
            <a:r>
              <a:t>• Current Market Need: Slashes 14-day manual tracing to minutes, enabling real-time freeze notices to exchanges.</a:t>
            </a:r>
          </a:p>
          <a:p>
            <a:pPr>
              <a:spcAft>
                <a:spcPts val="400"/>
              </a:spcAft>
              <a:defRPr sz="1150">
                <a:solidFill>
                  <a:srgbClr val="CBD5E1"/>
                </a:solidFill>
                <a:latin typeface="Helvetica Neue"/>
              </a:defRPr>
            </a:pPr>
            <a:r>
              <a:t>• Upcoming Market: Pan-India intelligence backbone to counter AI-automated fraud and cross-chain syndicates.</a:t>
            </a:r>
          </a:p>
          <a:p>
            <a:pPr>
              <a:defRPr sz="1150" b="1">
                <a:solidFill>
                  <a:srgbClr val="00F5D4"/>
                </a:solidFill>
                <a:latin typeface="Helvetica Neue"/>
              </a:defRPr>
            </a:pPr>
            <a:r>
              <a:t>• Mission: Turn passive complaint logs into proactive asset recoveries.</a:t>
            </a:r>
          </a:p>
        </p:txBody>
      </p:sp>
      <p:pic>
        <p:nvPicPr>
          <p:cNvPr id="111" name="Picture 110" descr="chart_crime_tr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234440"/>
            <a:ext cx="56692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of node and mesh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8863427" y="6509659"/>
            <a:ext cx="32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Chandigarh Police Hackathon 2026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255814" y="299357"/>
            <a:ext cx="11680371" cy="621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3"/>
          <p:cNvSpPr/>
          <p:nvPr/>
        </p:nvSpPr>
        <p:spPr>
          <a:xfrm rot="10800000">
            <a:off x="4065812" y="30503"/>
            <a:ext cx="4060374" cy="999785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58338" y="272354"/>
            <a:ext cx="40603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Solution</a:t>
            </a:r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594360" y="1234440"/>
            <a:ext cx="2606040" cy="123444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spcAft>
                <a:spcPts val="300"/>
              </a:spcAft>
              <a:defRPr sz="1200" b="1">
                <a:solidFill>
                  <a:srgbClr val="00E5FF"/>
                </a:solidFill>
                <a:latin typeface="Helvetica Neue"/>
              </a:defRPr>
            </a:pPr>
            <a:r>
              <a:t>⚡ 01. LIVE INGESTION</a:t>
            </a:r>
          </a:p>
          <a:p>
            <a:pPr>
              <a:defRPr sz="1050">
                <a:solidFill>
                  <a:srgbClr val="FFFFFF"/>
                </a:solidFill>
                <a:latin typeface="Helvetica Neue"/>
              </a:defRPr>
            </a:pPr>
            <a:r>
              <a:t>Live BTC mempool &amp; ETH block streaming + OFAC sanctions sync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383280" y="1234440"/>
            <a:ext cx="2606040" cy="123444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FFD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spcAft>
                <a:spcPts val="300"/>
              </a:spcAft>
              <a:defRPr sz="1200" b="1">
                <a:solidFill>
                  <a:srgbClr val="FFD21F"/>
                </a:solidFill>
                <a:latin typeface="Helvetica Neue"/>
              </a:defRPr>
            </a:pPr>
            <a:r>
              <a:t>🧠 02. RISK ENGINE</a:t>
            </a:r>
          </a:p>
          <a:p>
            <a:pPr>
              <a:defRPr sz="1050">
                <a:solidFill>
                  <a:srgbClr val="FFFFFF"/>
                </a:solidFill>
                <a:latin typeface="Helvetica Neue"/>
              </a:defRPr>
            </a:pPr>
            <a:r>
              <a:t>Explainable 0–100 risk scoring with transparent rule heuristics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172200" y="1234440"/>
            <a:ext cx="2606040" cy="123444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spcAft>
                <a:spcPts val="300"/>
              </a:spcAft>
              <a:defRPr sz="1200" b="1">
                <a:solidFill>
                  <a:srgbClr val="00F5D4"/>
                </a:solidFill>
                <a:latin typeface="Helvetica Neue"/>
              </a:defRPr>
            </a:pPr>
            <a:r>
              <a:t>🕸️ 03. FORENSIC GRAPH</a:t>
            </a:r>
          </a:p>
          <a:p>
            <a:pPr>
              <a:defRPr sz="1050">
                <a:solidFill>
                  <a:srgbClr val="FFFFFF"/>
                </a:solidFill>
                <a:latin typeface="Helvetica Neue"/>
              </a:defRPr>
            </a:pPr>
            <a:r>
              <a:t>Multi-hop fund-flow graph tracing peel chains &amp; mixer hops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961120" y="1234440"/>
            <a:ext cx="2606040" cy="123444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spcAft>
                <a:spcPts val="300"/>
              </a:spcAft>
              <a:defRPr sz="1200" b="1">
                <a:solidFill>
                  <a:srgbClr val="FF5252"/>
                </a:solidFill>
                <a:latin typeface="Helvetica Neue"/>
              </a:defRPr>
            </a:pPr>
            <a:r>
              <a:t>⚖️ 04. POLICE ACTION</a:t>
            </a:r>
          </a:p>
          <a:p>
            <a:pPr>
              <a:defRPr sz="1050">
                <a:solidFill>
                  <a:srgbClr val="FFFFFF"/>
                </a:solidFill>
                <a:latin typeface="Helvetica Neue"/>
              </a:defRPr>
            </a:pPr>
            <a:r>
              <a:t>Sub-10s live alerts, FIR case binders &amp; 1-click court PDF reports</a:t>
            </a:r>
          </a:p>
        </p:txBody>
      </p:sp>
      <p:pic>
        <p:nvPicPr>
          <p:cNvPr id="124" name="Picture 123" descr="chart_flow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06040"/>
            <a:ext cx="109728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of node and mesh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8863427" y="6509659"/>
            <a:ext cx="32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Chandigarh Police Hackathon 2026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255814" y="299357"/>
            <a:ext cx="11680371" cy="621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4"/>
          <p:cNvSpPr/>
          <p:nvPr/>
        </p:nvSpPr>
        <p:spPr>
          <a:xfrm rot="10800000">
            <a:off x="4065812" y="30503"/>
            <a:ext cx="4060374" cy="999785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474025" y="217343"/>
            <a:ext cx="40603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FEATURES</a:t>
            </a:r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0B2035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200"/>
              </a:spcAft>
              <a:defRPr sz="1050" b="1">
                <a:solidFill>
                  <a:srgbClr val="00E5FF"/>
                </a:solidFill>
                <a:latin typeface="Helvetica Neue"/>
              </a:defRPr>
            </a:pPr>
            <a:r>
              <a:t>[REAL-TIME STREAMING]</a:t>
            </a:r>
          </a:p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1. 100% Real Live-Chain Ingestion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  <a:latin typeface="Helvetica Neue"/>
              </a:defRPr>
            </a:pPr>
            <a:r>
              <a:t>• Direct WebSocket to mempool.space &amp; Alchemy (detection in ≤10s).</a:t>
            </a:r>
            <a:br/>
            <a:r>
              <a:t>• Zero mock data; connects to live public Bitcoin &amp; Ethereum ledgers.</a:t>
            </a:r>
          </a:p>
          <a:p>
            <a:pPr>
              <a:defRPr sz="1150" b="1">
                <a:solidFill>
                  <a:srgbClr val="00E5FF"/>
                </a:solidFill>
                <a:latin typeface="Helvetica Neue"/>
              </a:defRPr>
            </a:pPr>
            <a:r>
              <a:t>★ vs. Competitors: 15–30 min polling delays or expensive private nodes.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17920" y="1234440"/>
            <a:ext cx="5349240" cy="2331720"/>
          </a:xfrm>
          <a:prstGeom prst="roundRect">
            <a:avLst/>
          </a:prstGeom>
          <a:solidFill>
            <a:srgbClr val="0B2035"/>
          </a:solidFill>
          <a:ln w="22860">
            <a:solidFill>
              <a:srgbClr val="FFD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200"/>
              </a:spcAft>
              <a:defRPr sz="1050" b="1">
                <a:solidFill>
                  <a:srgbClr val="FFD21F"/>
                </a:solidFill>
                <a:latin typeface="Helvetica Neue"/>
              </a:defRPr>
            </a:pPr>
            <a:r>
              <a:t>[EXPLAINABLE FORENSICS]</a:t>
            </a:r>
          </a:p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2. Explainable 0–100 Risk Engine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  <a:latin typeface="Helvetica Neue"/>
              </a:defRPr>
            </a:pPr>
            <a:r>
              <a:t>• Transparent heuristics: OFAC blacklist hits, mixers, and fan-out/in.</a:t>
            </a:r>
            <a:br/>
            <a:r>
              <a:t>• Populates detailed evidence reasons for every flagged transaction.</a:t>
            </a:r>
          </a:p>
          <a:p>
            <a:pPr>
              <a:defRPr sz="1150" b="1">
                <a:solidFill>
                  <a:srgbClr val="FFD21F"/>
                </a:solidFill>
                <a:latin typeface="Helvetica Neue"/>
              </a:defRPr>
            </a:pPr>
            <a:r>
              <a:t>★ vs. Competitors: Opaque 'black box' AI with zero court audit trail.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0B2035"/>
          </a:solidFill>
          <a:ln w="2286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200"/>
              </a:spcAft>
              <a:defRPr sz="1050" b="1">
                <a:solidFill>
                  <a:srgbClr val="00F5D4"/>
                </a:solidFill>
                <a:latin typeface="Helvetica Neue"/>
              </a:defRPr>
            </a:pPr>
            <a:r>
              <a:t>[GRAPH VISUALIZATION]</a:t>
            </a:r>
          </a:p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3. Interactive Multi-Hop Fund Graph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  <a:latin typeface="Helvetica Neue"/>
              </a:defRPr>
            </a:pPr>
            <a:r>
              <a:t>• Dynamic follow-the-money graph powered by react-force-graph.</a:t>
            </a:r>
            <a:br/>
            <a:r>
              <a:t>• Pinpoints structuring (smurfing), peel chains, and counterparty clusters.</a:t>
            </a:r>
          </a:p>
          <a:p>
            <a:pPr>
              <a:defRPr sz="1150" b="1">
                <a:solidFill>
                  <a:srgbClr val="00F5D4"/>
                </a:solidFill>
                <a:latin typeface="Helvetica Neue"/>
              </a:defRPr>
            </a:pPr>
            <a:r>
              <a:t>★ vs. Competitors: Generic explorers show flat lists; tools cost $50k+/yr.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17920" y="3749039"/>
            <a:ext cx="5349240" cy="2331720"/>
          </a:xfrm>
          <a:prstGeom prst="roundRect">
            <a:avLst/>
          </a:prstGeom>
          <a:solidFill>
            <a:srgbClr val="0B2035"/>
          </a:solidFill>
          <a:ln w="2286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spcAft>
                <a:spcPts val="200"/>
              </a:spcAft>
              <a:defRPr sz="1050" b="1">
                <a:solidFill>
                  <a:srgbClr val="FF5252"/>
                </a:solidFill>
                <a:latin typeface="Helvetica Neue"/>
              </a:defRPr>
            </a:pPr>
            <a:r>
              <a:t>[LAW ENFORCEMENT WORKFLOW]</a:t>
            </a:r>
          </a:p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4. Police Case Workspace &amp; PDF Export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  <a:latin typeface="Helvetica Neue"/>
              </a:defRPr>
            </a:pPr>
            <a:r>
              <a:t>• Purpose-built for Cyber Cells: Attach suspect wallets to FIR numbers.</a:t>
            </a:r>
            <a:br/>
            <a:r>
              <a:t>• Generates timestamped, court-ready PDF evidence reports in 1-click.</a:t>
            </a:r>
          </a:p>
          <a:p>
            <a:pPr>
              <a:defRPr sz="1150" b="1">
                <a:solidFill>
                  <a:srgbClr val="FF5252"/>
                </a:solidFill>
                <a:latin typeface="Helvetica Neue"/>
              </a:defRPr>
            </a:pPr>
            <a:r>
              <a:t>★ vs. Competitors: Commercial compliance tools lack police case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of node and mesh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8991327" y="6509659"/>
            <a:ext cx="32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Chandigarh Police Hackathon 2026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55814" y="299357"/>
            <a:ext cx="11680500" cy="621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5"/>
          <p:cNvSpPr/>
          <p:nvPr/>
        </p:nvSpPr>
        <p:spPr>
          <a:xfrm rot="10800000">
            <a:off x="3535133" y="65788"/>
            <a:ext cx="5121731" cy="1264059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3635824" y="107409"/>
            <a:ext cx="492034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DELIVERABLES / PROPOSED OUTCOME</a:t>
            </a:r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594360" y="1234440"/>
            <a:ext cx="5120640" cy="150876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>
              <a:spcAft>
                <a:spcPts val="300"/>
              </a:spcAft>
              <a:defRPr sz="1350" b="1">
                <a:solidFill>
                  <a:srgbClr val="00E5FF"/>
                </a:solidFill>
                <a:latin typeface="Helvetica Neue"/>
              </a:defRPr>
            </a:pPr>
            <a:r>
              <a:t>⚡ 90% FASTER INVESTIGATIONS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Helvetica Neue"/>
              </a:defRPr>
            </a:pPr>
            <a:r>
              <a:t>• Slashes fund-tracing cycle from 14 days to under 2 hours.</a:t>
            </a:r>
          </a:p>
          <a:p>
            <a:pPr>
              <a:defRPr sz="1100">
                <a:solidFill>
                  <a:srgbClr val="CBD5E1"/>
                </a:solidFill>
                <a:latin typeface="Helvetica Neue"/>
              </a:defRPr>
            </a:pPr>
            <a:r>
              <a:t>• Enables immediate freeze notices to exchanges before cash out.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94360" y="2880360"/>
            <a:ext cx="5120640" cy="150876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>
              <a:spcAft>
                <a:spcPts val="300"/>
              </a:spcAft>
              <a:defRPr sz="1350" b="1">
                <a:solidFill>
                  <a:srgbClr val="00F5D4"/>
                </a:solidFill>
                <a:latin typeface="Helvetica Neue"/>
              </a:defRPr>
            </a:pPr>
            <a:r>
              <a:t>💰 5x HIGHER ASSET RECOVERY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Helvetica Neue"/>
              </a:defRPr>
            </a:pPr>
            <a:r>
              <a:t>• Real-time mempool alerts intercept money laundering at Stage-1.</a:t>
            </a:r>
          </a:p>
          <a:p>
            <a:pPr>
              <a:defRPr sz="1100">
                <a:solidFill>
                  <a:srgbClr val="CBD5E1"/>
                </a:solidFill>
                <a:latin typeface="Helvetica Neue"/>
              </a:defRPr>
            </a:pPr>
            <a:r>
              <a:t>• Prevents total loss of citizen savings to mixers and offshore bridges.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94360" y="4526280"/>
            <a:ext cx="5120640" cy="1600200"/>
          </a:xfrm>
          <a:prstGeom prst="roundRect">
            <a:avLst/>
          </a:prstGeom>
          <a:solidFill>
            <a:srgbClr val="0B2035"/>
          </a:solidFill>
          <a:ln w="19050">
            <a:solidFill>
              <a:srgbClr val="FFD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>
              <a:spcAft>
                <a:spcPts val="300"/>
              </a:spcAft>
              <a:defRPr sz="1350" b="1">
                <a:solidFill>
                  <a:srgbClr val="FFD21F"/>
                </a:solidFill>
                <a:latin typeface="Helvetica Neue"/>
              </a:defRPr>
            </a:pPr>
            <a:r>
              <a:t>🛡️ EMPOWERING LAW ENFORCEMENT</a:t>
            </a:r>
          </a:p>
          <a:p>
            <a:pPr>
              <a:spcAft>
                <a:spcPts val="200"/>
              </a:spcAft>
              <a:defRPr sz="1150">
                <a:solidFill>
                  <a:srgbClr val="FFFFFF"/>
                </a:solidFill>
                <a:latin typeface="Helvetica Neue"/>
              </a:defRPr>
            </a:pPr>
            <a:r>
              <a:t>• Equips state &amp; local cyber units without expensive proprietary licenses.</a:t>
            </a:r>
          </a:p>
          <a:p>
            <a:pPr>
              <a:defRPr sz="1100">
                <a:solidFill>
                  <a:srgbClr val="CBD5E1"/>
                </a:solidFill>
                <a:latin typeface="Helvetica Neue"/>
              </a:defRPr>
            </a:pPr>
            <a:r>
              <a:t>• Timestamped PDF audit reports admissible under BNSS &amp; IT Act.</a:t>
            </a:r>
          </a:p>
        </p:txBody>
      </p:sp>
      <p:pic>
        <p:nvPicPr>
          <p:cNvPr id="145" name="Picture 144" descr="chart_imp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234440"/>
            <a:ext cx="56692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of node and mesh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8884077" y="6509659"/>
            <a:ext cx="32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Chandigarh Police Hackathon 2026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255814" y="299357"/>
            <a:ext cx="11680371" cy="621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6"/>
          <p:cNvSpPr/>
          <p:nvPr/>
        </p:nvSpPr>
        <p:spPr>
          <a:xfrm rot="10800000">
            <a:off x="4259033" y="42056"/>
            <a:ext cx="3673931" cy="1243126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727117" y="152645"/>
            <a:ext cx="273776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C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(IMG OR VID IF ANY)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 of node and mesh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533401" y="1600200"/>
            <a:ext cx="11132468" cy="3667162"/>
          </a:xfrm>
          <a:prstGeom prst="roundRect">
            <a:avLst>
              <a:gd fmla="val 16667" name="adj"/>
            </a:avLst>
          </a:prstGeom>
          <a:solidFill>
            <a:srgbClr val="06111C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2929758" y="2853025"/>
            <a:ext cx="635020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FFD2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2026-07-17T11:21:28Z</dcterms:created>
  <dc:creator>Nidhi Verma</dc:creator>
</cp:coreProperties>
</file>